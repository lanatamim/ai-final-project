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1" r:id="rId9"/>
    <p:sldId id="272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9804F2-12B0-4310-93A9-29B6A014E248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0DFBF24-F443-406A-B67F-3A9C1415AF9C}">
      <dgm:prSet/>
      <dgm:spPr/>
      <dgm:t>
        <a:bodyPr/>
        <a:lstStyle/>
        <a:p>
          <a:r>
            <a:rPr lang="en-US"/>
            <a:t>Hybrid RL + A* improved learning efficiency</a:t>
          </a:r>
        </a:p>
      </dgm:t>
    </dgm:pt>
    <dgm:pt modelId="{50CE2B33-B62C-46CF-9131-6907EEE87169}" type="parTrans" cxnId="{5208EBD7-9F2A-4D46-A4B7-3784520B58E6}">
      <dgm:prSet/>
      <dgm:spPr/>
      <dgm:t>
        <a:bodyPr/>
        <a:lstStyle/>
        <a:p>
          <a:endParaRPr lang="en-US"/>
        </a:p>
      </dgm:t>
    </dgm:pt>
    <dgm:pt modelId="{BB0BBB69-CE88-41F8-A689-1846541C603D}" type="sibTrans" cxnId="{5208EBD7-9F2A-4D46-A4B7-3784520B58E6}">
      <dgm:prSet/>
      <dgm:spPr/>
      <dgm:t>
        <a:bodyPr/>
        <a:lstStyle/>
        <a:p>
          <a:endParaRPr lang="en-US"/>
        </a:p>
      </dgm:t>
    </dgm:pt>
    <dgm:pt modelId="{C7037C47-F3F8-4327-9D4B-BF9EF1AD8711}">
      <dgm:prSet/>
      <dgm:spPr/>
      <dgm:t>
        <a:bodyPr/>
        <a:lstStyle/>
        <a:p>
          <a:r>
            <a:rPr lang="en-US"/>
            <a:t>Reward shaping guided desired behaviors</a:t>
          </a:r>
        </a:p>
      </dgm:t>
    </dgm:pt>
    <dgm:pt modelId="{377B7DD8-531D-4642-AAC6-973C47B029F4}" type="parTrans" cxnId="{8952EAAC-D7C5-4423-B4D7-4A1A98B4871E}">
      <dgm:prSet/>
      <dgm:spPr/>
      <dgm:t>
        <a:bodyPr/>
        <a:lstStyle/>
        <a:p>
          <a:endParaRPr lang="en-US"/>
        </a:p>
      </dgm:t>
    </dgm:pt>
    <dgm:pt modelId="{53C4B5E7-2A0B-4A9B-BC86-DBD894EF470B}" type="sibTrans" cxnId="{8952EAAC-D7C5-4423-B4D7-4A1A98B4871E}">
      <dgm:prSet/>
      <dgm:spPr/>
      <dgm:t>
        <a:bodyPr/>
        <a:lstStyle/>
        <a:p>
          <a:endParaRPr lang="en-US"/>
        </a:p>
      </dgm:t>
    </dgm:pt>
    <dgm:pt modelId="{0102C1FB-736F-4737-A71B-6D9B3A5340A9}">
      <dgm:prSet/>
      <dgm:spPr/>
      <dgm:t>
        <a:bodyPr/>
        <a:lstStyle/>
        <a:p>
          <a:r>
            <a:rPr lang="en-US"/>
            <a:t>ε produced best long-term strategy</a:t>
          </a:r>
        </a:p>
      </dgm:t>
    </dgm:pt>
    <dgm:pt modelId="{EBE7696A-291D-4FA7-AB4C-809D54524D9E}" type="parTrans" cxnId="{2D1B7C32-D605-46CE-9601-6036D557777C}">
      <dgm:prSet/>
      <dgm:spPr/>
      <dgm:t>
        <a:bodyPr/>
        <a:lstStyle/>
        <a:p>
          <a:endParaRPr lang="en-US"/>
        </a:p>
      </dgm:t>
    </dgm:pt>
    <dgm:pt modelId="{1272552B-70BE-46E1-9F45-380F27ECC388}" type="sibTrans" cxnId="{2D1B7C32-D605-46CE-9601-6036D557777C}">
      <dgm:prSet/>
      <dgm:spPr/>
      <dgm:t>
        <a:bodyPr/>
        <a:lstStyle/>
        <a:p>
          <a:endParaRPr lang="en-US"/>
        </a:p>
      </dgm:t>
    </dgm:pt>
    <dgm:pt modelId="{C0B2569A-D7C0-4215-B5DF-14D726433065}">
      <dgm:prSet/>
      <dgm:spPr/>
      <dgm:t>
        <a:bodyPr/>
        <a:lstStyle/>
        <a:p>
          <a:r>
            <a:rPr lang="en-US"/>
            <a:t>Ghost difficulty significantly affects learning</a:t>
          </a:r>
        </a:p>
      </dgm:t>
    </dgm:pt>
    <dgm:pt modelId="{A896B5F0-47EC-4946-86EB-3BDF85530606}" type="parTrans" cxnId="{E2ACD6A6-0ECC-4169-84B4-EF0C8659955D}">
      <dgm:prSet/>
      <dgm:spPr/>
      <dgm:t>
        <a:bodyPr/>
        <a:lstStyle/>
        <a:p>
          <a:endParaRPr lang="en-US"/>
        </a:p>
      </dgm:t>
    </dgm:pt>
    <dgm:pt modelId="{EE6D93E1-A5AB-4106-B5A5-3C26976B05C9}" type="sibTrans" cxnId="{E2ACD6A6-0ECC-4169-84B4-EF0C8659955D}">
      <dgm:prSet/>
      <dgm:spPr/>
      <dgm:t>
        <a:bodyPr/>
        <a:lstStyle/>
        <a:p>
          <a:endParaRPr lang="en-US"/>
        </a:p>
      </dgm:t>
    </dgm:pt>
    <dgm:pt modelId="{C899CE90-3CB9-44DB-9646-C5175F786CB8}" type="pres">
      <dgm:prSet presAssocID="{109804F2-12B0-4310-93A9-29B6A014E248}" presName="root" presStyleCnt="0">
        <dgm:presLayoutVars>
          <dgm:dir/>
          <dgm:resizeHandles val="exact"/>
        </dgm:presLayoutVars>
      </dgm:prSet>
      <dgm:spPr/>
    </dgm:pt>
    <dgm:pt modelId="{2DEFAB80-03C1-400C-B017-935CAC8028E6}" type="pres">
      <dgm:prSet presAssocID="{00DFBF24-F443-406A-B67F-3A9C1415AF9C}" presName="compNode" presStyleCnt="0"/>
      <dgm:spPr/>
    </dgm:pt>
    <dgm:pt modelId="{9AECD5DD-80AB-497A-95C7-17A25A30C7A8}" type="pres">
      <dgm:prSet presAssocID="{00DFBF24-F443-406A-B67F-3A9C1415AF9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C"/>
        </a:ext>
      </dgm:extLst>
    </dgm:pt>
    <dgm:pt modelId="{B924D48A-F4A8-4693-B5AA-978FA055AA09}" type="pres">
      <dgm:prSet presAssocID="{00DFBF24-F443-406A-B67F-3A9C1415AF9C}" presName="spaceRect" presStyleCnt="0"/>
      <dgm:spPr/>
    </dgm:pt>
    <dgm:pt modelId="{98AEA004-9E09-4875-9421-0E6D62A5E159}" type="pres">
      <dgm:prSet presAssocID="{00DFBF24-F443-406A-B67F-3A9C1415AF9C}" presName="textRect" presStyleLbl="revTx" presStyleIdx="0" presStyleCnt="4">
        <dgm:presLayoutVars>
          <dgm:chMax val="1"/>
          <dgm:chPref val="1"/>
        </dgm:presLayoutVars>
      </dgm:prSet>
      <dgm:spPr/>
    </dgm:pt>
    <dgm:pt modelId="{52C60DE0-1F51-4AFA-A265-220A61A64284}" type="pres">
      <dgm:prSet presAssocID="{BB0BBB69-CE88-41F8-A689-1846541C603D}" presName="sibTrans" presStyleCnt="0"/>
      <dgm:spPr/>
    </dgm:pt>
    <dgm:pt modelId="{312C716A-62C2-49F0-B120-66B9B59E57F0}" type="pres">
      <dgm:prSet presAssocID="{C7037C47-F3F8-4327-9D4B-BF9EF1AD8711}" presName="compNode" presStyleCnt="0"/>
      <dgm:spPr/>
    </dgm:pt>
    <dgm:pt modelId="{4BF547D9-77ED-4610-90F7-358E27960500}" type="pres">
      <dgm:prSet presAssocID="{C7037C47-F3F8-4327-9D4B-BF9EF1AD871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20BC6B3D-961D-46CA-900B-8B2FB59F7B5B}" type="pres">
      <dgm:prSet presAssocID="{C7037C47-F3F8-4327-9D4B-BF9EF1AD8711}" presName="spaceRect" presStyleCnt="0"/>
      <dgm:spPr/>
    </dgm:pt>
    <dgm:pt modelId="{6A407F35-567C-42B4-8441-B7680864E92C}" type="pres">
      <dgm:prSet presAssocID="{C7037C47-F3F8-4327-9D4B-BF9EF1AD8711}" presName="textRect" presStyleLbl="revTx" presStyleIdx="1" presStyleCnt="4">
        <dgm:presLayoutVars>
          <dgm:chMax val="1"/>
          <dgm:chPref val="1"/>
        </dgm:presLayoutVars>
      </dgm:prSet>
      <dgm:spPr/>
    </dgm:pt>
    <dgm:pt modelId="{827B3E7F-0D0B-46B0-99A0-F6E05581BA46}" type="pres">
      <dgm:prSet presAssocID="{53C4B5E7-2A0B-4A9B-BC86-DBD894EF470B}" presName="sibTrans" presStyleCnt="0"/>
      <dgm:spPr/>
    </dgm:pt>
    <dgm:pt modelId="{4E7FBDE8-D632-4478-9B84-A7D3D9766C8D}" type="pres">
      <dgm:prSet presAssocID="{0102C1FB-736F-4737-A71B-6D9B3A5340A9}" presName="compNode" presStyleCnt="0"/>
      <dgm:spPr/>
    </dgm:pt>
    <dgm:pt modelId="{955752A6-5953-4E5A-8ECC-ECC62AEF0C2B}" type="pres">
      <dgm:prSet presAssocID="{0102C1FB-736F-4737-A71B-6D9B3A5340A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boarding"/>
        </a:ext>
      </dgm:extLst>
    </dgm:pt>
    <dgm:pt modelId="{94647DE5-F086-4618-9E99-F47DB282B617}" type="pres">
      <dgm:prSet presAssocID="{0102C1FB-736F-4737-A71B-6D9B3A5340A9}" presName="spaceRect" presStyleCnt="0"/>
      <dgm:spPr/>
    </dgm:pt>
    <dgm:pt modelId="{7668A7C7-B92E-431E-8D7B-08BD28612B36}" type="pres">
      <dgm:prSet presAssocID="{0102C1FB-736F-4737-A71B-6D9B3A5340A9}" presName="textRect" presStyleLbl="revTx" presStyleIdx="2" presStyleCnt="4">
        <dgm:presLayoutVars>
          <dgm:chMax val="1"/>
          <dgm:chPref val="1"/>
        </dgm:presLayoutVars>
      </dgm:prSet>
      <dgm:spPr/>
    </dgm:pt>
    <dgm:pt modelId="{B240E1C0-5813-4E66-9C15-C4965F1804F4}" type="pres">
      <dgm:prSet presAssocID="{1272552B-70BE-46E1-9F45-380F27ECC388}" presName="sibTrans" presStyleCnt="0"/>
      <dgm:spPr/>
    </dgm:pt>
    <dgm:pt modelId="{FBE3CD36-5EA2-4B3A-B044-C0A8E2916B77}" type="pres">
      <dgm:prSet presAssocID="{C0B2569A-D7C0-4215-B5DF-14D726433065}" presName="compNode" presStyleCnt="0"/>
      <dgm:spPr/>
    </dgm:pt>
    <dgm:pt modelId="{F817E52D-26ED-49A7-9F8D-1708019BB1ED}" type="pres">
      <dgm:prSet presAssocID="{C0B2569A-D7C0-4215-B5DF-14D72643306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ducation"/>
        </a:ext>
      </dgm:extLst>
    </dgm:pt>
    <dgm:pt modelId="{79957A8F-E936-4C4E-97CC-C90527AB5980}" type="pres">
      <dgm:prSet presAssocID="{C0B2569A-D7C0-4215-B5DF-14D726433065}" presName="spaceRect" presStyleCnt="0"/>
      <dgm:spPr/>
    </dgm:pt>
    <dgm:pt modelId="{F6B8CA66-6A69-49BA-A673-6AD05D8D6CEB}" type="pres">
      <dgm:prSet presAssocID="{C0B2569A-D7C0-4215-B5DF-14D72643306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14D0C0F-DBB1-4327-8ABC-8DD3F8BAD497}" type="presOf" srcId="{00DFBF24-F443-406A-B67F-3A9C1415AF9C}" destId="{98AEA004-9E09-4875-9421-0E6D62A5E159}" srcOrd="0" destOrd="0" presId="urn:microsoft.com/office/officeart/2018/2/layout/IconLabelList"/>
    <dgm:cxn modelId="{23BD292B-E8B9-4480-AC92-68AAFF5C001F}" type="presOf" srcId="{C7037C47-F3F8-4327-9D4B-BF9EF1AD8711}" destId="{6A407F35-567C-42B4-8441-B7680864E92C}" srcOrd="0" destOrd="0" presId="urn:microsoft.com/office/officeart/2018/2/layout/IconLabelList"/>
    <dgm:cxn modelId="{2D1B7C32-D605-46CE-9601-6036D557777C}" srcId="{109804F2-12B0-4310-93A9-29B6A014E248}" destId="{0102C1FB-736F-4737-A71B-6D9B3A5340A9}" srcOrd="2" destOrd="0" parTransId="{EBE7696A-291D-4FA7-AB4C-809D54524D9E}" sibTransId="{1272552B-70BE-46E1-9F45-380F27ECC388}"/>
    <dgm:cxn modelId="{6B901168-4AFC-44D9-8389-CA94B3122C9C}" type="presOf" srcId="{C0B2569A-D7C0-4215-B5DF-14D726433065}" destId="{F6B8CA66-6A69-49BA-A673-6AD05D8D6CEB}" srcOrd="0" destOrd="0" presId="urn:microsoft.com/office/officeart/2018/2/layout/IconLabelList"/>
    <dgm:cxn modelId="{E2ACD6A6-0ECC-4169-84B4-EF0C8659955D}" srcId="{109804F2-12B0-4310-93A9-29B6A014E248}" destId="{C0B2569A-D7C0-4215-B5DF-14D726433065}" srcOrd="3" destOrd="0" parTransId="{A896B5F0-47EC-4946-86EB-3BDF85530606}" sibTransId="{EE6D93E1-A5AB-4106-B5A5-3C26976B05C9}"/>
    <dgm:cxn modelId="{8952EAAC-D7C5-4423-B4D7-4A1A98B4871E}" srcId="{109804F2-12B0-4310-93A9-29B6A014E248}" destId="{C7037C47-F3F8-4327-9D4B-BF9EF1AD8711}" srcOrd="1" destOrd="0" parTransId="{377B7DD8-531D-4642-AAC6-973C47B029F4}" sibTransId="{53C4B5E7-2A0B-4A9B-BC86-DBD894EF470B}"/>
    <dgm:cxn modelId="{D7DBD1D1-4D97-4253-991E-E0306A8F3314}" type="presOf" srcId="{109804F2-12B0-4310-93A9-29B6A014E248}" destId="{C899CE90-3CB9-44DB-9646-C5175F786CB8}" srcOrd="0" destOrd="0" presId="urn:microsoft.com/office/officeart/2018/2/layout/IconLabelList"/>
    <dgm:cxn modelId="{5208EBD7-9F2A-4D46-A4B7-3784520B58E6}" srcId="{109804F2-12B0-4310-93A9-29B6A014E248}" destId="{00DFBF24-F443-406A-B67F-3A9C1415AF9C}" srcOrd="0" destOrd="0" parTransId="{50CE2B33-B62C-46CF-9131-6907EEE87169}" sibTransId="{BB0BBB69-CE88-41F8-A689-1846541C603D}"/>
    <dgm:cxn modelId="{B6F752FB-BBE7-4931-A68D-F383E7EA85A2}" type="presOf" srcId="{0102C1FB-736F-4737-A71B-6D9B3A5340A9}" destId="{7668A7C7-B92E-431E-8D7B-08BD28612B36}" srcOrd="0" destOrd="0" presId="urn:microsoft.com/office/officeart/2018/2/layout/IconLabelList"/>
    <dgm:cxn modelId="{CB6516B3-7F38-4E8A-8320-4D58A0A7AC4F}" type="presParOf" srcId="{C899CE90-3CB9-44DB-9646-C5175F786CB8}" destId="{2DEFAB80-03C1-400C-B017-935CAC8028E6}" srcOrd="0" destOrd="0" presId="urn:microsoft.com/office/officeart/2018/2/layout/IconLabelList"/>
    <dgm:cxn modelId="{EF6BCE50-F3DD-4F7C-AE0C-30E85FA0C0D0}" type="presParOf" srcId="{2DEFAB80-03C1-400C-B017-935CAC8028E6}" destId="{9AECD5DD-80AB-497A-95C7-17A25A30C7A8}" srcOrd="0" destOrd="0" presId="urn:microsoft.com/office/officeart/2018/2/layout/IconLabelList"/>
    <dgm:cxn modelId="{5E845B86-1844-4943-9415-4622BEEB1F94}" type="presParOf" srcId="{2DEFAB80-03C1-400C-B017-935CAC8028E6}" destId="{B924D48A-F4A8-4693-B5AA-978FA055AA09}" srcOrd="1" destOrd="0" presId="urn:microsoft.com/office/officeart/2018/2/layout/IconLabelList"/>
    <dgm:cxn modelId="{FD420CC8-D465-4F1C-B194-23D582240AE1}" type="presParOf" srcId="{2DEFAB80-03C1-400C-B017-935CAC8028E6}" destId="{98AEA004-9E09-4875-9421-0E6D62A5E159}" srcOrd="2" destOrd="0" presId="urn:microsoft.com/office/officeart/2018/2/layout/IconLabelList"/>
    <dgm:cxn modelId="{ADA10838-5B58-45D9-9527-7E5167B45A59}" type="presParOf" srcId="{C899CE90-3CB9-44DB-9646-C5175F786CB8}" destId="{52C60DE0-1F51-4AFA-A265-220A61A64284}" srcOrd="1" destOrd="0" presId="urn:microsoft.com/office/officeart/2018/2/layout/IconLabelList"/>
    <dgm:cxn modelId="{AAF62402-747D-4729-8E14-696811F10AEB}" type="presParOf" srcId="{C899CE90-3CB9-44DB-9646-C5175F786CB8}" destId="{312C716A-62C2-49F0-B120-66B9B59E57F0}" srcOrd="2" destOrd="0" presId="urn:microsoft.com/office/officeart/2018/2/layout/IconLabelList"/>
    <dgm:cxn modelId="{87115C12-9B33-4F03-A3BB-32248CDC7D99}" type="presParOf" srcId="{312C716A-62C2-49F0-B120-66B9B59E57F0}" destId="{4BF547D9-77ED-4610-90F7-358E27960500}" srcOrd="0" destOrd="0" presId="urn:microsoft.com/office/officeart/2018/2/layout/IconLabelList"/>
    <dgm:cxn modelId="{3AC1E5EC-127A-40F1-8654-546C3F01055C}" type="presParOf" srcId="{312C716A-62C2-49F0-B120-66B9B59E57F0}" destId="{20BC6B3D-961D-46CA-900B-8B2FB59F7B5B}" srcOrd="1" destOrd="0" presId="urn:microsoft.com/office/officeart/2018/2/layout/IconLabelList"/>
    <dgm:cxn modelId="{F9E47BD0-7172-41FF-9EA3-7DF1F37F12B3}" type="presParOf" srcId="{312C716A-62C2-49F0-B120-66B9B59E57F0}" destId="{6A407F35-567C-42B4-8441-B7680864E92C}" srcOrd="2" destOrd="0" presId="urn:microsoft.com/office/officeart/2018/2/layout/IconLabelList"/>
    <dgm:cxn modelId="{DC7D6243-6BF2-4A2F-A09F-05A80300F8CB}" type="presParOf" srcId="{C899CE90-3CB9-44DB-9646-C5175F786CB8}" destId="{827B3E7F-0D0B-46B0-99A0-F6E05581BA46}" srcOrd="3" destOrd="0" presId="urn:microsoft.com/office/officeart/2018/2/layout/IconLabelList"/>
    <dgm:cxn modelId="{3668C7A5-9A96-42E5-BE55-FBE41F9D5A1D}" type="presParOf" srcId="{C899CE90-3CB9-44DB-9646-C5175F786CB8}" destId="{4E7FBDE8-D632-4478-9B84-A7D3D9766C8D}" srcOrd="4" destOrd="0" presId="urn:microsoft.com/office/officeart/2018/2/layout/IconLabelList"/>
    <dgm:cxn modelId="{75B0C569-A7E4-4BB8-8C7E-24F43673730C}" type="presParOf" srcId="{4E7FBDE8-D632-4478-9B84-A7D3D9766C8D}" destId="{955752A6-5953-4E5A-8ECC-ECC62AEF0C2B}" srcOrd="0" destOrd="0" presId="urn:microsoft.com/office/officeart/2018/2/layout/IconLabelList"/>
    <dgm:cxn modelId="{780FD5F0-61FF-4D30-AAB5-5BBE1BE108CD}" type="presParOf" srcId="{4E7FBDE8-D632-4478-9B84-A7D3D9766C8D}" destId="{94647DE5-F086-4618-9E99-F47DB282B617}" srcOrd="1" destOrd="0" presId="urn:microsoft.com/office/officeart/2018/2/layout/IconLabelList"/>
    <dgm:cxn modelId="{0395150C-26BC-4479-BDAB-C19C22E0D686}" type="presParOf" srcId="{4E7FBDE8-D632-4478-9B84-A7D3D9766C8D}" destId="{7668A7C7-B92E-431E-8D7B-08BD28612B36}" srcOrd="2" destOrd="0" presId="urn:microsoft.com/office/officeart/2018/2/layout/IconLabelList"/>
    <dgm:cxn modelId="{D92059A4-2C34-4582-BE9C-7B1845DE8061}" type="presParOf" srcId="{C899CE90-3CB9-44DB-9646-C5175F786CB8}" destId="{B240E1C0-5813-4E66-9C15-C4965F1804F4}" srcOrd="5" destOrd="0" presId="urn:microsoft.com/office/officeart/2018/2/layout/IconLabelList"/>
    <dgm:cxn modelId="{8147F5DF-BFB4-4D57-A2C6-452A6D320500}" type="presParOf" srcId="{C899CE90-3CB9-44DB-9646-C5175F786CB8}" destId="{FBE3CD36-5EA2-4B3A-B044-C0A8E2916B77}" srcOrd="6" destOrd="0" presId="urn:microsoft.com/office/officeart/2018/2/layout/IconLabelList"/>
    <dgm:cxn modelId="{F88E47B5-6431-4B53-852F-0C4AF3268243}" type="presParOf" srcId="{FBE3CD36-5EA2-4B3A-B044-C0A8E2916B77}" destId="{F817E52D-26ED-49A7-9F8D-1708019BB1ED}" srcOrd="0" destOrd="0" presId="urn:microsoft.com/office/officeart/2018/2/layout/IconLabelList"/>
    <dgm:cxn modelId="{27B3E0AF-0494-43F1-98EE-C8CF35C6335B}" type="presParOf" srcId="{FBE3CD36-5EA2-4B3A-B044-C0A8E2916B77}" destId="{79957A8F-E936-4C4E-97CC-C90527AB5980}" srcOrd="1" destOrd="0" presId="urn:microsoft.com/office/officeart/2018/2/layout/IconLabelList"/>
    <dgm:cxn modelId="{CCF27921-0FFD-451B-A909-9E8A94569F6C}" type="presParOf" srcId="{FBE3CD36-5EA2-4B3A-B044-C0A8E2916B77}" destId="{F6B8CA66-6A69-49BA-A673-6AD05D8D6C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ECD5DD-80AB-497A-95C7-17A25A30C7A8}">
      <dsp:nvSpPr>
        <dsp:cNvPr id="0" name=""/>
        <dsp:cNvSpPr/>
      </dsp:nvSpPr>
      <dsp:spPr>
        <a:xfrm>
          <a:off x="682800" y="808178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AEA004-9E09-4875-9421-0E6D62A5E159}">
      <dsp:nvSpPr>
        <dsp:cNvPr id="0" name=""/>
        <dsp:cNvSpPr/>
      </dsp:nvSpPr>
      <dsp:spPr>
        <a:xfrm>
          <a:off x="187800" y="188822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Hybrid RL + A* improved learning efficiency</a:t>
          </a:r>
        </a:p>
      </dsp:txBody>
      <dsp:txXfrm>
        <a:off x="187800" y="1888221"/>
        <a:ext cx="1800000" cy="720000"/>
      </dsp:txXfrm>
    </dsp:sp>
    <dsp:sp modelId="{4BF547D9-77ED-4610-90F7-358E27960500}">
      <dsp:nvSpPr>
        <dsp:cNvPr id="0" name=""/>
        <dsp:cNvSpPr/>
      </dsp:nvSpPr>
      <dsp:spPr>
        <a:xfrm>
          <a:off x="2797800" y="808178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407F35-567C-42B4-8441-B7680864E92C}">
      <dsp:nvSpPr>
        <dsp:cNvPr id="0" name=""/>
        <dsp:cNvSpPr/>
      </dsp:nvSpPr>
      <dsp:spPr>
        <a:xfrm>
          <a:off x="2302800" y="188822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Reward shaping guided desired behaviors</a:t>
          </a:r>
        </a:p>
      </dsp:txBody>
      <dsp:txXfrm>
        <a:off x="2302800" y="1888221"/>
        <a:ext cx="1800000" cy="720000"/>
      </dsp:txXfrm>
    </dsp:sp>
    <dsp:sp modelId="{955752A6-5953-4E5A-8ECC-ECC62AEF0C2B}">
      <dsp:nvSpPr>
        <dsp:cNvPr id="0" name=""/>
        <dsp:cNvSpPr/>
      </dsp:nvSpPr>
      <dsp:spPr>
        <a:xfrm>
          <a:off x="4912800" y="808178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68A7C7-B92E-431E-8D7B-08BD28612B36}">
      <dsp:nvSpPr>
        <dsp:cNvPr id="0" name=""/>
        <dsp:cNvSpPr/>
      </dsp:nvSpPr>
      <dsp:spPr>
        <a:xfrm>
          <a:off x="4417800" y="188822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ε produced best long-term strategy</a:t>
          </a:r>
        </a:p>
      </dsp:txBody>
      <dsp:txXfrm>
        <a:off x="4417800" y="1888221"/>
        <a:ext cx="1800000" cy="720000"/>
      </dsp:txXfrm>
    </dsp:sp>
    <dsp:sp modelId="{F817E52D-26ED-49A7-9F8D-1708019BB1ED}">
      <dsp:nvSpPr>
        <dsp:cNvPr id="0" name=""/>
        <dsp:cNvSpPr/>
      </dsp:nvSpPr>
      <dsp:spPr>
        <a:xfrm>
          <a:off x="7027800" y="808178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B8CA66-6A69-49BA-A673-6AD05D8D6CEB}">
      <dsp:nvSpPr>
        <dsp:cNvPr id="0" name=""/>
        <dsp:cNvSpPr/>
      </dsp:nvSpPr>
      <dsp:spPr>
        <a:xfrm>
          <a:off x="6532800" y="188822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Ghost difficulty significantly affects learning</a:t>
          </a:r>
        </a:p>
      </dsp:txBody>
      <dsp:txXfrm>
        <a:off x="6532800" y="1888221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bae44d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bae44d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bae44d4d0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bae44d4d0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bae44d4d0_0_1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bae44d4d0_0_1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bb1b7cc2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abb1b7cc2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bae44d4d0_0_1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abae44d4d0_0_1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bae44d4d0_0_1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abae44d4d0_0_1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bae44d4d0_0_17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abae44d4d0_0_17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bae44d4d0_0_1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abae44d4d0_0_1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bae44d4d0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abae44d4d0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with header and footer">
  <p:cSld name="TITLE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228600" y="2856025"/>
            <a:ext cx="18894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2"/>
          </p:nvPr>
        </p:nvSpPr>
        <p:spPr>
          <a:xfrm>
            <a:off x="228600" y="168075"/>
            <a:ext cx="1889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3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228600" y="1909750"/>
            <a:ext cx="62328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4"/>
          </p:nvPr>
        </p:nvSpPr>
        <p:spPr>
          <a:xfrm>
            <a:off x="2400300" y="2856025"/>
            <a:ext cx="18894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5"/>
          </p:nvPr>
        </p:nvSpPr>
        <p:spPr>
          <a:xfrm>
            <a:off x="2400300" y="168075"/>
            <a:ext cx="1889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6"/>
          </p:nvPr>
        </p:nvSpPr>
        <p:spPr>
          <a:xfrm>
            <a:off x="4572000" y="168075"/>
            <a:ext cx="1889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7"/>
          </p:nvPr>
        </p:nvSpPr>
        <p:spPr>
          <a:xfrm>
            <a:off x="6743700" y="168075"/>
            <a:ext cx="1889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60" name="Google Shape;60;p13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44">
          <p15:clr>
            <a:srgbClr val="E46962"/>
          </p15:clr>
        </p15:guide>
        <p15:guide id="4" pos="1512">
          <p15:clr>
            <a:srgbClr val="E46962"/>
          </p15:clr>
        </p15:guide>
        <p15:guide id="5" pos="4248">
          <p15:clr>
            <a:srgbClr val="E46962"/>
          </p15:clr>
        </p15:guide>
        <p15:guide id="6" pos="5616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ex">
  <p:cSld name="SECTION_HEADER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1"/>
          </p:nvPr>
        </p:nvSpPr>
        <p:spPr>
          <a:xfrm>
            <a:off x="228600" y="167750"/>
            <a:ext cx="52578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2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65" name="Google Shape;65;p14"/>
          <p:cNvCxnSpPr/>
          <p:nvPr/>
        </p:nvCxnSpPr>
        <p:spPr>
          <a:xfrm>
            <a:off x="228600" y="478125"/>
            <a:ext cx="868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66;p14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456">
          <p15:clr>
            <a:srgbClr val="E46962"/>
          </p15:clr>
        </p15:guide>
        <p15:guide id="2" pos="4752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_ONLY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229450" y="164350"/>
            <a:ext cx="8686800" cy="338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228600" y="3868750"/>
            <a:ext cx="1889400" cy="64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2"/>
          </p:nvPr>
        </p:nvSpPr>
        <p:spPr>
          <a:xfrm>
            <a:off x="2400300" y="3868750"/>
            <a:ext cx="1889400" cy="64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3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4"/>
          </p:nvPr>
        </p:nvSpPr>
        <p:spPr>
          <a:xfrm>
            <a:off x="6743700" y="3868750"/>
            <a:ext cx="1889400" cy="64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5"/>
          </p:nvPr>
        </p:nvSpPr>
        <p:spPr>
          <a:xfrm>
            <a:off x="4572000" y="3868750"/>
            <a:ext cx="1889400" cy="64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75" name="Google Shape;75;p15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with footer">
  <p:cSld name="CUSTOM">
    <p:bg>
      <p:bgPr>
        <a:solidFill>
          <a:schemeClr val="dk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225750" y="369625"/>
            <a:ext cx="8692500" cy="43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80" name="Google Shape;80;p16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V">
  <p:cSld name="CUSTOM_5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2400300" y="2448075"/>
            <a:ext cx="1889400" cy="20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2"/>
          </p:nvPr>
        </p:nvSpPr>
        <p:spPr>
          <a:xfrm>
            <a:off x="228600" y="2448075"/>
            <a:ext cx="1889400" cy="20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3"/>
          </p:nvPr>
        </p:nvSpPr>
        <p:spPr>
          <a:xfrm>
            <a:off x="4572000" y="2448075"/>
            <a:ext cx="1889400" cy="20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4"/>
          </p:nvPr>
        </p:nvSpPr>
        <p:spPr>
          <a:xfrm>
            <a:off x="6743700" y="2448075"/>
            <a:ext cx="1889400" cy="20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ubTitle" idx="5"/>
          </p:nvPr>
        </p:nvSpPr>
        <p:spPr>
          <a:xfrm>
            <a:off x="4572000" y="1585625"/>
            <a:ext cx="4061100" cy="6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6"/>
          </p:nvPr>
        </p:nvSpPr>
        <p:spPr>
          <a:xfrm>
            <a:off x="228600" y="1585625"/>
            <a:ext cx="4061100" cy="6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7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91" name="Google Shape;91;p17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with footer">
  <p:cSld name="ONE_COLUMN_TEXT_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228600" y="2236650"/>
            <a:ext cx="3551400" cy="67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subTitle" idx="1"/>
          </p:nvPr>
        </p:nvSpPr>
        <p:spPr>
          <a:xfrm>
            <a:off x="4572000" y="1004700"/>
            <a:ext cx="4343400" cy="31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2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97" name="Google Shape;97;p18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image boards">
  <p:cSld name="CUSTOM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subTitle" idx="1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>
            <a:spLocks noGrp="1"/>
          </p:cNvSpPr>
          <p:nvPr>
            <p:ph type="pic" idx="2"/>
          </p:nvPr>
        </p:nvSpPr>
        <p:spPr>
          <a:xfrm>
            <a:off x="228600" y="1870200"/>
            <a:ext cx="20244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9"/>
          <p:cNvSpPr>
            <a:spLocks noGrp="1"/>
          </p:cNvSpPr>
          <p:nvPr>
            <p:ph type="pic" idx="3"/>
          </p:nvPr>
        </p:nvSpPr>
        <p:spPr>
          <a:xfrm>
            <a:off x="3864875" y="1870200"/>
            <a:ext cx="35619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9"/>
          <p:cNvSpPr>
            <a:spLocks noGrp="1"/>
          </p:cNvSpPr>
          <p:nvPr>
            <p:ph type="pic" idx="4"/>
          </p:nvPr>
        </p:nvSpPr>
        <p:spPr>
          <a:xfrm>
            <a:off x="7547700" y="1870200"/>
            <a:ext cx="13677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9"/>
          <p:cNvSpPr>
            <a:spLocks noGrp="1"/>
          </p:cNvSpPr>
          <p:nvPr>
            <p:ph type="pic" idx="5"/>
          </p:nvPr>
        </p:nvSpPr>
        <p:spPr>
          <a:xfrm>
            <a:off x="2375088" y="1870200"/>
            <a:ext cx="1367700" cy="23142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9"/>
          <p:cNvSpPr txBox="1">
            <a:spLocks noGrp="1"/>
          </p:cNvSpPr>
          <p:nvPr>
            <p:ph type="body" idx="6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7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107" name="Google Shape;107;p19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mage boards">
  <p:cSld name="CUSTOM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subTitle" idx="1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0"/>
          <p:cNvSpPr>
            <a:spLocks noGrp="1"/>
          </p:cNvSpPr>
          <p:nvPr>
            <p:ph type="pic" idx="2"/>
          </p:nvPr>
        </p:nvSpPr>
        <p:spPr>
          <a:xfrm>
            <a:off x="2286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0"/>
          <p:cNvSpPr>
            <a:spLocks noGrp="1"/>
          </p:cNvSpPr>
          <p:nvPr>
            <p:ph type="pic" idx="3"/>
          </p:nvPr>
        </p:nvSpPr>
        <p:spPr>
          <a:xfrm>
            <a:off x="31618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0"/>
          <p:cNvSpPr>
            <a:spLocks noGrp="1"/>
          </p:cNvSpPr>
          <p:nvPr>
            <p:ph type="pic" idx="4"/>
          </p:nvPr>
        </p:nvSpPr>
        <p:spPr>
          <a:xfrm>
            <a:off x="6095000" y="1617150"/>
            <a:ext cx="28203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0"/>
          <p:cNvSpPr txBox="1">
            <a:spLocks noGrp="1"/>
          </p:cNvSpPr>
          <p:nvPr>
            <p:ph type="body" idx="5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body" idx="6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116" name="Google Shape;116;p20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image boards">
  <p:cSld name="CUSTOM_1_1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ubTitle" idx="1"/>
          </p:nvPr>
        </p:nvSpPr>
        <p:spPr>
          <a:xfrm>
            <a:off x="228600" y="164350"/>
            <a:ext cx="35142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1"/>
          <p:cNvSpPr>
            <a:spLocks noGrp="1"/>
          </p:cNvSpPr>
          <p:nvPr>
            <p:ph type="pic" idx="2"/>
          </p:nvPr>
        </p:nvSpPr>
        <p:spPr>
          <a:xfrm>
            <a:off x="4633050" y="1617150"/>
            <a:ext cx="42825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1"/>
          <p:cNvSpPr>
            <a:spLocks noGrp="1"/>
          </p:cNvSpPr>
          <p:nvPr>
            <p:ph type="pic" idx="3"/>
          </p:nvPr>
        </p:nvSpPr>
        <p:spPr>
          <a:xfrm>
            <a:off x="228600" y="1617150"/>
            <a:ext cx="4282500" cy="28203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1"/>
          <p:cNvSpPr txBox="1">
            <a:spLocks noGrp="1"/>
          </p:cNvSpPr>
          <p:nvPr>
            <p:ph type="body" idx="4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5"/>
          </p:nvPr>
        </p:nvSpPr>
        <p:spPr>
          <a:xfrm>
            <a:off x="228600" y="593650"/>
            <a:ext cx="3514200" cy="8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124" name="Google Shape;124;p21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image boards vertical">
  <p:cSld name="CUSTOM_1_1_1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>
            <a:spLocks noGrp="1"/>
          </p:cNvSpPr>
          <p:nvPr>
            <p:ph type="pic" idx="2"/>
          </p:nvPr>
        </p:nvSpPr>
        <p:spPr>
          <a:xfrm>
            <a:off x="3161800" y="164350"/>
            <a:ext cx="2820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>
            <a:spLocks noGrp="1"/>
          </p:cNvSpPr>
          <p:nvPr>
            <p:ph type="pic" idx="3"/>
          </p:nvPr>
        </p:nvSpPr>
        <p:spPr>
          <a:xfrm>
            <a:off x="6095100" y="164350"/>
            <a:ext cx="2820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2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1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body" idx="4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body" idx="5"/>
          </p:nvPr>
        </p:nvSpPr>
        <p:spPr>
          <a:xfrm>
            <a:off x="228600" y="593650"/>
            <a:ext cx="2171400" cy="8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132" name="Google Shape;132;p22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square image board">
  <p:cSld name="CUSTOM_1_1_1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>
            <a:spLocks noGrp="1"/>
          </p:cNvSpPr>
          <p:nvPr>
            <p:ph type="pic" idx="2"/>
          </p:nvPr>
        </p:nvSpPr>
        <p:spPr>
          <a:xfrm>
            <a:off x="4569950" y="164350"/>
            <a:ext cx="43431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3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ubTitle" idx="1"/>
          </p:nvPr>
        </p:nvSpPr>
        <p:spPr>
          <a:xfrm>
            <a:off x="228600" y="164350"/>
            <a:ext cx="28203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body" idx="3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body" idx="4"/>
          </p:nvPr>
        </p:nvSpPr>
        <p:spPr>
          <a:xfrm>
            <a:off x="228600" y="593650"/>
            <a:ext cx="2171400" cy="8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139" name="Google Shape;139;p23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landscape image board">
  <p:cSld name="CUSTOM_1_1_1_1_1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>
            <a:spLocks noGrp="1"/>
          </p:cNvSpPr>
          <p:nvPr>
            <p:ph type="pic" idx="2"/>
          </p:nvPr>
        </p:nvSpPr>
        <p:spPr>
          <a:xfrm>
            <a:off x="31618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subTitle" idx="1"/>
          </p:nvPr>
        </p:nvSpPr>
        <p:spPr>
          <a:xfrm>
            <a:off x="228600" y="3290275"/>
            <a:ext cx="2820300" cy="4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body" idx="3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body" idx="4"/>
          </p:nvPr>
        </p:nvSpPr>
        <p:spPr>
          <a:xfrm>
            <a:off x="228600" y="3719575"/>
            <a:ext cx="21714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146" name="Google Shape;146;p24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 with footer">
  <p:cSld name="CUSTOM_1_1_1_1_1_1_1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>
            <a:spLocks noGrp="1"/>
          </p:cNvSpPr>
          <p:nvPr>
            <p:ph type="pic" idx="2"/>
          </p:nvPr>
        </p:nvSpPr>
        <p:spPr>
          <a:xfrm>
            <a:off x="228600" y="164350"/>
            <a:ext cx="86844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25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25"/>
          <p:cNvSpPr txBox="1">
            <a:spLocks noGrp="1"/>
          </p:cNvSpPr>
          <p:nvPr>
            <p:ph type="body" idx="1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151" name="Google Shape;151;p25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with footer">
  <p:cSld name="TITLE_AND_TWO_COLUMNS_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6"/>
          <p:cNvSpPr txBox="1">
            <a:spLocks noGrp="1"/>
          </p:cNvSpPr>
          <p:nvPr>
            <p:ph type="title"/>
          </p:nvPr>
        </p:nvSpPr>
        <p:spPr>
          <a:xfrm>
            <a:off x="229450" y="164350"/>
            <a:ext cx="8686800" cy="8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6"/>
          <p:cNvSpPr txBox="1">
            <a:spLocks noGrp="1"/>
          </p:cNvSpPr>
          <p:nvPr>
            <p:ph type="body" idx="1"/>
          </p:nvPr>
        </p:nvSpPr>
        <p:spPr>
          <a:xfrm>
            <a:off x="229450" y="3455951"/>
            <a:ext cx="2834100" cy="1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26"/>
          <p:cNvSpPr txBox="1">
            <a:spLocks noGrp="1"/>
          </p:cNvSpPr>
          <p:nvPr>
            <p:ph type="subTitle" idx="2"/>
          </p:nvPr>
        </p:nvSpPr>
        <p:spPr>
          <a:xfrm>
            <a:off x="229450" y="3127850"/>
            <a:ext cx="2834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157" name="Google Shape;157;p26"/>
          <p:cNvSpPr txBox="1">
            <a:spLocks noGrp="1"/>
          </p:cNvSpPr>
          <p:nvPr>
            <p:ph type="body" idx="3"/>
          </p:nvPr>
        </p:nvSpPr>
        <p:spPr>
          <a:xfrm>
            <a:off x="3155800" y="3455951"/>
            <a:ext cx="2834100" cy="1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subTitle" idx="4"/>
          </p:nvPr>
        </p:nvSpPr>
        <p:spPr>
          <a:xfrm>
            <a:off x="3155800" y="3127850"/>
            <a:ext cx="2834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body" idx="5"/>
          </p:nvPr>
        </p:nvSpPr>
        <p:spPr>
          <a:xfrm>
            <a:off x="6082150" y="3455951"/>
            <a:ext cx="2834100" cy="1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0" name="Google Shape;160;p26"/>
          <p:cNvSpPr txBox="1">
            <a:spLocks noGrp="1"/>
          </p:cNvSpPr>
          <p:nvPr>
            <p:ph type="subTitle" idx="6"/>
          </p:nvPr>
        </p:nvSpPr>
        <p:spPr>
          <a:xfrm>
            <a:off x="6082150" y="3127850"/>
            <a:ext cx="28341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body" idx="7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162" name="Google Shape;162;p26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ate sheet">
  <p:cSld name="TITLE_AND_BODY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title"/>
          </p:nvPr>
        </p:nvSpPr>
        <p:spPr>
          <a:xfrm>
            <a:off x="229450" y="164350"/>
            <a:ext cx="8686800" cy="4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body" idx="1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7" name="Google Shape;167;p27"/>
          <p:cNvSpPr txBox="1">
            <a:spLocks noGrp="1"/>
          </p:cNvSpPr>
          <p:nvPr>
            <p:ph type="subTitle" idx="2"/>
          </p:nvPr>
        </p:nvSpPr>
        <p:spPr>
          <a:xfrm>
            <a:off x="228600" y="1213525"/>
            <a:ext cx="27282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168" name="Google Shape;168;p27"/>
          <p:cNvSpPr txBox="1">
            <a:spLocks noGrp="1"/>
          </p:cNvSpPr>
          <p:nvPr>
            <p:ph type="subTitle" idx="3"/>
          </p:nvPr>
        </p:nvSpPr>
        <p:spPr>
          <a:xfrm>
            <a:off x="3207900" y="1213525"/>
            <a:ext cx="27282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169" name="Google Shape;169;p27"/>
          <p:cNvSpPr txBox="1">
            <a:spLocks noGrp="1"/>
          </p:cNvSpPr>
          <p:nvPr>
            <p:ph type="subTitle" idx="4"/>
          </p:nvPr>
        </p:nvSpPr>
        <p:spPr>
          <a:xfrm>
            <a:off x="6187200" y="1213525"/>
            <a:ext cx="27282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 b="1"/>
            </a:lvl9pPr>
          </a:lstStyle>
          <a:p>
            <a:endParaRPr/>
          </a:p>
        </p:txBody>
      </p:sp>
      <p:cxnSp>
        <p:nvCxnSpPr>
          <p:cNvPr id="170" name="Google Shape;170;p27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ody text">
  <p:cSld name="CUSTOM_3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>
            <a:spLocks noGrp="1"/>
          </p:cNvSpPr>
          <p:nvPr>
            <p:ph type="body" idx="1"/>
          </p:nvPr>
        </p:nvSpPr>
        <p:spPr>
          <a:xfrm>
            <a:off x="5095525" y="922175"/>
            <a:ext cx="3440100" cy="12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3" name="Google Shape;173;p28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8"/>
          <p:cNvSpPr txBox="1">
            <a:spLocks noGrp="1"/>
          </p:cNvSpPr>
          <p:nvPr>
            <p:ph type="body" idx="2"/>
          </p:nvPr>
        </p:nvSpPr>
        <p:spPr>
          <a:xfrm>
            <a:off x="5095525" y="2801100"/>
            <a:ext cx="3440100" cy="81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28"/>
          <p:cNvSpPr txBox="1">
            <a:spLocks noGrp="1"/>
          </p:cNvSpPr>
          <p:nvPr>
            <p:ph type="body" idx="3"/>
          </p:nvPr>
        </p:nvSpPr>
        <p:spPr>
          <a:xfrm>
            <a:off x="5095525" y="4013575"/>
            <a:ext cx="3440100" cy="53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6" name="Google Shape;176;p28"/>
          <p:cNvSpPr txBox="1">
            <a:spLocks noGrp="1"/>
          </p:cNvSpPr>
          <p:nvPr>
            <p:ph type="body" idx="4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177" name="Google Shape;177;p28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6">
    <p:bg>
      <p:bgPr>
        <a:solidFill>
          <a:schemeClr val="dk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>
            <a:spLocks noGrp="1"/>
          </p:cNvSpPr>
          <p:nvPr>
            <p:ph type="title"/>
          </p:nvPr>
        </p:nvSpPr>
        <p:spPr>
          <a:xfrm>
            <a:off x="225750" y="1212350"/>
            <a:ext cx="8692500" cy="34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29"/>
          <p:cNvSpPr txBox="1">
            <a:spLocks noGrp="1"/>
          </p:cNvSpPr>
          <p:nvPr>
            <p:ph type="body" idx="1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82" name="Google Shape;182;p29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183;p29"/>
          <p:cNvCxnSpPr/>
          <p:nvPr/>
        </p:nvCxnSpPr>
        <p:spPr>
          <a:xfrm rot="10800000" flipH="1">
            <a:off x="225750" y="12123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image">
  <p:cSld name="CUSTOM_2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30"/>
          <p:cNvSpPr>
            <a:spLocks noGrp="1"/>
          </p:cNvSpPr>
          <p:nvPr>
            <p:ph type="pic" idx="2"/>
          </p:nvPr>
        </p:nvSpPr>
        <p:spPr>
          <a:xfrm>
            <a:off x="228600" y="164350"/>
            <a:ext cx="5751300" cy="4304700"/>
          </a:xfrm>
          <a:prstGeom prst="rect">
            <a:avLst/>
          </a:prstGeom>
          <a:noFill/>
          <a:ln>
            <a:noFill/>
          </a:ln>
        </p:spPr>
      </p:sp>
      <p:sp>
        <p:nvSpPr>
          <p:cNvPr id="187" name="Google Shape;187;p30"/>
          <p:cNvSpPr txBox="1">
            <a:spLocks noGrp="1"/>
          </p:cNvSpPr>
          <p:nvPr>
            <p:ph type="title"/>
          </p:nvPr>
        </p:nvSpPr>
        <p:spPr>
          <a:xfrm>
            <a:off x="6095100" y="321875"/>
            <a:ext cx="2820300" cy="15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0"/>
          <p:cNvSpPr txBox="1">
            <a:spLocks noGrp="1"/>
          </p:cNvSpPr>
          <p:nvPr>
            <p:ph type="subTitle" idx="1"/>
          </p:nvPr>
        </p:nvSpPr>
        <p:spPr>
          <a:xfrm>
            <a:off x="6095100" y="1842575"/>
            <a:ext cx="2820300" cy="26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body" idx="3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190" name="Google Shape;190;p30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 text">
  <p:cSld name="TITLE_ONLY_1_1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1"/>
          <p:cNvSpPr txBox="1">
            <a:spLocks noGrp="1"/>
          </p:cNvSpPr>
          <p:nvPr>
            <p:ph type="body" idx="1"/>
          </p:nvPr>
        </p:nvSpPr>
        <p:spPr>
          <a:xfrm>
            <a:off x="370100" y="3868750"/>
            <a:ext cx="1889400" cy="64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body" idx="2"/>
          </p:nvPr>
        </p:nvSpPr>
        <p:spPr>
          <a:xfrm>
            <a:off x="2541453" y="3868750"/>
            <a:ext cx="1889400" cy="64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5" name="Google Shape;195;p31"/>
          <p:cNvSpPr txBox="1">
            <a:spLocks noGrp="1"/>
          </p:cNvSpPr>
          <p:nvPr>
            <p:ph type="body" idx="3"/>
          </p:nvPr>
        </p:nvSpPr>
        <p:spPr>
          <a:xfrm>
            <a:off x="4713154" y="3868750"/>
            <a:ext cx="1889400" cy="64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6" name="Google Shape;196;p31"/>
          <p:cNvSpPr txBox="1">
            <a:spLocks noGrp="1"/>
          </p:cNvSpPr>
          <p:nvPr>
            <p:ph type="body" idx="4"/>
          </p:nvPr>
        </p:nvSpPr>
        <p:spPr>
          <a:xfrm>
            <a:off x="6884852" y="3868750"/>
            <a:ext cx="1889400" cy="64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7" name="Google Shape;197;p31"/>
          <p:cNvSpPr txBox="1">
            <a:spLocks noGrp="1"/>
          </p:cNvSpPr>
          <p:nvPr>
            <p:ph type="subTitle" idx="5"/>
          </p:nvPr>
        </p:nvSpPr>
        <p:spPr>
          <a:xfrm>
            <a:off x="370100" y="495319"/>
            <a:ext cx="1889400" cy="10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31"/>
          <p:cNvSpPr txBox="1">
            <a:spLocks noGrp="1"/>
          </p:cNvSpPr>
          <p:nvPr>
            <p:ph type="subTitle" idx="6"/>
          </p:nvPr>
        </p:nvSpPr>
        <p:spPr>
          <a:xfrm>
            <a:off x="2541450" y="495319"/>
            <a:ext cx="1889400" cy="10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1"/>
          <p:cNvSpPr txBox="1">
            <a:spLocks noGrp="1"/>
          </p:cNvSpPr>
          <p:nvPr>
            <p:ph type="subTitle" idx="7"/>
          </p:nvPr>
        </p:nvSpPr>
        <p:spPr>
          <a:xfrm>
            <a:off x="4712800" y="495319"/>
            <a:ext cx="1889400" cy="10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1"/>
          <p:cNvSpPr txBox="1">
            <a:spLocks noGrp="1"/>
          </p:cNvSpPr>
          <p:nvPr>
            <p:ph type="subTitle" idx="8"/>
          </p:nvPr>
        </p:nvSpPr>
        <p:spPr>
          <a:xfrm>
            <a:off x="6884150" y="495319"/>
            <a:ext cx="1889400" cy="10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1"/>
          <p:cNvSpPr txBox="1">
            <a:spLocks noGrp="1"/>
          </p:cNvSpPr>
          <p:nvPr>
            <p:ph type="body" idx="9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02" name="Google Shape;202;p31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 with footer">
  <p:cSld name="CUSTOM_7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228600" y="665825"/>
            <a:ext cx="5753400" cy="22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2"/>
          <p:cNvSpPr>
            <a:spLocks noGrp="1"/>
          </p:cNvSpPr>
          <p:nvPr>
            <p:ph type="pic" idx="2"/>
          </p:nvPr>
        </p:nvSpPr>
        <p:spPr>
          <a:xfrm>
            <a:off x="6777063" y="1017650"/>
            <a:ext cx="1582800" cy="15828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32"/>
          <p:cNvSpPr txBox="1">
            <a:spLocks noGrp="1"/>
          </p:cNvSpPr>
          <p:nvPr>
            <p:ph type="body" idx="1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08" name="Google Shape;208;p32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2">
  <p:cSld name="CUSTOM_8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3"/>
          <p:cNvSpPr txBox="1">
            <a:spLocks noGrp="1"/>
          </p:cNvSpPr>
          <p:nvPr>
            <p:ph type="title"/>
          </p:nvPr>
        </p:nvSpPr>
        <p:spPr>
          <a:xfrm>
            <a:off x="228600" y="1549575"/>
            <a:ext cx="7938000" cy="22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3"/>
          <p:cNvSpPr txBox="1">
            <a:spLocks noGrp="1"/>
          </p:cNvSpPr>
          <p:nvPr>
            <p:ph type="body" idx="1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13" name="Google Shape;213;p33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with footer">
  <p:cSld name="CUSTOM_4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34"/>
          <p:cNvSpPr txBox="1">
            <a:spLocks noGrp="1"/>
          </p:cNvSpPr>
          <p:nvPr>
            <p:ph type="title"/>
          </p:nvPr>
        </p:nvSpPr>
        <p:spPr>
          <a:xfrm>
            <a:off x="229450" y="332175"/>
            <a:ext cx="8686800" cy="87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217" name="Google Shape;217;p34"/>
          <p:cNvSpPr txBox="1">
            <a:spLocks noGrp="1"/>
          </p:cNvSpPr>
          <p:nvPr>
            <p:ph type="body" idx="1"/>
          </p:nvPr>
        </p:nvSpPr>
        <p:spPr>
          <a:xfrm>
            <a:off x="229450" y="1294950"/>
            <a:ext cx="3566100" cy="28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8" name="Google Shape;218;p34"/>
          <p:cNvSpPr txBox="1">
            <a:spLocks noGrp="1"/>
          </p:cNvSpPr>
          <p:nvPr>
            <p:ph type="body" idx="2"/>
          </p:nvPr>
        </p:nvSpPr>
        <p:spPr>
          <a:xfrm>
            <a:off x="4572850" y="1294950"/>
            <a:ext cx="3566100" cy="28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9" name="Google Shape;219;p34"/>
          <p:cNvSpPr txBox="1">
            <a:spLocks noGrp="1"/>
          </p:cNvSpPr>
          <p:nvPr>
            <p:ph type="body" idx="3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20" name="Google Shape;220;p34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">
  <p:cSld name="ONE_COLUMN_TEXT_1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>
            <a:spLocks noGrp="1"/>
          </p:cNvSpPr>
          <p:nvPr>
            <p:ph type="sldNum" idx="12"/>
          </p:nvPr>
        </p:nvSpPr>
        <p:spPr>
          <a:xfrm>
            <a:off x="7426775" y="4679000"/>
            <a:ext cx="15024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35"/>
          <p:cNvSpPr txBox="1">
            <a:spLocks noGrp="1"/>
          </p:cNvSpPr>
          <p:nvPr>
            <p:ph type="title"/>
          </p:nvPr>
        </p:nvSpPr>
        <p:spPr>
          <a:xfrm>
            <a:off x="228600" y="2089772"/>
            <a:ext cx="3551400" cy="67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224" name="Google Shape;224;p35"/>
          <p:cNvSpPr txBox="1">
            <a:spLocks noGrp="1"/>
          </p:cNvSpPr>
          <p:nvPr>
            <p:ph type="subTitle" idx="1"/>
          </p:nvPr>
        </p:nvSpPr>
        <p:spPr>
          <a:xfrm>
            <a:off x="6074275" y="1004700"/>
            <a:ext cx="2558700" cy="31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5"/>
          <p:cNvSpPr txBox="1">
            <a:spLocks noGrp="1"/>
          </p:cNvSpPr>
          <p:nvPr>
            <p:ph type="subTitle" idx="2"/>
          </p:nvPr>
        </p:nvSpPr>
        <p:spPr>
          <a:xfrm>
            <a:off x="4292700" y="1004700"/>
            <a:ext cx="1671000" cy="31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226" name="Google Shape;226;p35"/>
          <p:cNvSpPr txBox="1">
            <a:spLocks noGrp="1"/>
          </p:cNvSpPr>
          <p:nvPr>
            <p:ph type="body" idx="3"/>
          </p:nvPr>
        </p:nvSpPr>
        <p:spPr>
          <a:xfrm>
            <a:off x="228600" y="4679000"/>
            <a:ext cx="4343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27" name="Google Shape;227;p35"/>
          <p:cNvCxnSpPr/>
          <p:nvPr/>
        </p:nvCxnSpPr>
        <p:spPr>
          <a:xfrm rot="10800000" flipH="1">
            <a:off x="225750" y="4678950"/>
            <a:ext cx="86925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8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3" r:id="rId3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>
            <a:spLocks noGrp="1"/>
          </p:cNvSpPr>
          <p:nvPr>
            <p:ph type="title"/>
          </p:nvPr>
        </p:nvSpPr>
        <p:spPr>
          <a:xfrm>
            <a:off x="609125" y="3591600"/>
            <a:ext cx="62328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 Man AI</a:t>
            </a:r>
            <a:endParaRPr/>
          </a:p>
        </p:txBody>
      </p:sp>
      <p:sp>
        <p:nvSpPr>
          <p:cNvPr id="233" name="Google Shape;233;p36"/>
          <p:cNvSpPr txBox="1">
            <a:spLocks noGrp="1"/>
          </p:cNvSpPr>
          <p:nvPr>
            <p:ph type="body" idx="1"/>
          </p:nvPr>
        </p:nvSpPr>
        <p:spPr>
          <a:xfrm>
            <a:off x="6982950" y="3175225"/>
            <a:ext cx="1780200" cy="13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50"/>
              <a:t>Lana Tamim</a:t>
            </a:r>
            <a:endParaRPr sz="1650"/>
          </a:p>
          <a:p>
            <a:pPr marL="0" lvl="0" indent="0" algn="r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650"/>
              <a:t>Avery Munn</a:t>
            </a:r>
            <a:endParaRPr sz="1650"/>
          </a:p>
          <a:p>
            <a:pPr marL="0" lvl="0" indent="0" algn="r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" sz="1650"/>
              <a:t>Micheal</a:t>
            </a:r>
            <a:endParaRPr sz="1650"/>
          </a:p>
        </p:txBody>
      </p:sp>
      <p:sp>
        <p:nvSpPr>
          <p:cNvPr id="234" name="Google Shape;234;p36"/>
          <p:cNvSpPr txBox="1">
            <a:spLocks noGrp="1"/>
          </p:cNvSpPr>
          <p:nvPr>
            <p:ph type="body" idx="5"/>
          </p:nvPr>
        </p:nvSpPr>
        <p:spPr>
          <a:xfrm>
            <a:off x="2400300" y="168075"/>
            <a:ext cx="1889400" cy="3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35" name="Google Shape;23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2951" y="878421"/>
            <a:ext cx="1502400" cy="1582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275" y="555950"/>
            <a:ext cx="2095500" cy="20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 txBox="1">
            <a:spLocks noGrp="1"/>
          </p:cNvSpPr>
          <p:nvPr>
            <p:ph type="title"/>
          </p:nvPr>
        </p:nvSpPr>
        <p:spPr>
          <a:xfrm>
            <a:off x="228600" y="465975"/>
            <a:ext cx="8686800" cy="7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39285"/>
              <a:buNone/>
            </a:pP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sp>
        <p:nvSpPr>
          <p:cNvPr id="242" name="Google Shape;242;p37"/>
          <p:cNvSpPr txBox="1">
            <a:spLocks noGrp="1"/>
          </p:cNvSpPr>
          <p:nvPr>
            <p:ph type="body" idx="1"/>
          </p:nvPr>
        </p:nvSpPr>
        <p:spPr>
          <a:xfrm>
            <a:off x="487275" y="1188075"/>
            <a:ext cx="7071900" cy="260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 dirty="0"/>
              <a:t>Pac Man using these Game Agents:</a:t>
            </a:r>
            <a:endParaRPr sz="19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/>
              <a:t>Planning Agent (A*): Gets the shortest and safest path using informed search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/>
              <a:t>RL Agent (Q-Learning): Makes strategic decisions. It learns from experience using rewards and penalties.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 dirty="0"/>
              <a:t>Adversarial (Ghosts): Act as non-player agents with random, aggressive, or mixed movement strategies.</a:t>
            </a:r>
            <a:endParaRPr sz="15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>
            <a:spLocks noGrp="1"/>
          </p:cNvSpPr>
          <p:nvPr>
            <p:ph type="title"/>
          </p:nvPr>
        </p:nvSpPr>
        <p:spPr>
          <a:xfrm>
            <a:off x="229450" y="164350"/>
            <a:ext cx="8686800" cy="8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&amp; Implementation</a:t>
            </a:r>
            <a:endParaRPr/>
          </a:p>
        </p:txBody>
      </p:sp>
      <p:sp>
        <p:nvSpPr>
          <p:cNvPr id="248" name="Google Shape;248;p38"/>
          <p:cNvSpPr txBox="1">
            <a:spLocks noGrp="1"/>
          </p:cNvSpPr>
          <p:nvPr>
            <p:ph type="body" idx="4"/>
          </p:nvPr>
        </p:nvSpPr>
        <p:spPr>
          <a:xfrm>
            <a:off x="467575" y="1531950"/>
            <a:ext cx="5342700" cy="207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Python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NumPy</a:t>
            </a:r>
            <a:endParaRPr sz="200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Q-tables</a:t>
            </a:r>
            <a:endParaRPr sz="16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GitHub 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9" name="Google Shape;24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775" y="461375"/>
            <a:ext cx="2279750" cy="227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44525" y="2450175"/>
            <a:ext cx="1711252" cy="1711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>
            <a:spLocks noGrp="1"/>
          </p:cNvSpPr>
          <p:nvPr>
            <p:ph type="title"/>
          </p:nvPr>
        </p:nvSpPr>
        <p:spPr>
          <a:xfrm>
            <a:off x="381450" y="465975"/>
            <a:ext cx="8534100" cy="72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39285"/>
              <a:buNone/>
            </a:pP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sp>
        <p:nvSpPr>
          <p:cNvPr id="256" name="Google Shape;256;p39"/>
          <p:cNvSpPr txBox="1">
            <a:spLocks noGrp="1"/>
          </p:cNvSpPr>
          <p:nvPr>
            <p:ph type="body" idx="1"/>
          </p:nvPr>
        </p:nvSpPr>
        <p:spPr>
          <a:xfrm>
            <a:off x="381450" y="1188075"/>
            <a:ext cx="7071900" cy="315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High-Level Decisions, the RL agent chooses between two high-level strategies: </a:t>
            </a:r>
            <a:endParaRPr sz="19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0 — Chase rewards: Move toward the nearest dot </a:t>
            </a:r>
            <a:endParaRPr sz="19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1 — Avoid threats: Move toward the safest tile </a:t>
            </a:r>
            <a:endParaRPr sz="19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/>
              <a:t>Low-Level Movement (A*) After selecting a high-level strategy: The agent uses A* to compute the optimal next move. A* ensures smooth movement.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0"/>
          <p:cNvSpPr txBox="1">
            <a:spLocks noGrp="1"/>
          </p:cNvSpPr>
          <p:nvPr>
            <p:ph type="title"/>
          </p:nvPr>
        </p:nvSpPr>
        <p:spPr>
          <a:xfrm>
            <a:off x="229450" y="164350"/>
            <a:ext cx="8686800" cy="8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Q-Learning</a:t>
            </a:r>
            <a:endParaRPr/>
          </a:p>
        </p:txBody>
      </p:sp>
      <p:sp>
        <p:nvSpPr>
          <p:cNvPr id="262" name="Google Shape;262;p40"/>
          <p:cNvSpPr txBox="1">
            <a:spLocks noGrp="1"/>
          </p:cNvSpPr>
          <p:nvPr>
            <p:ph type="body" idx="4"/>
          </p:nvPr>
        </p:nvSpPr>
        <p:spPr>
          <a:xfrm>
            <a:off x="229450" y="1038750"/>
            <a:ext cx="4448400" cy="30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Learns from rewards and penalties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States: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Pac-Man location (quadrant)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Ghost proximity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Actions: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Chase reward (food/power pellets)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Avoid danger (ghosts)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63" name="Google Shape;26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375" y="1727775"/>
            <a:ext cx="4010025" cy="154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</a:t>
            </a:r>
            <a:endParaRPr lang="en-US"/>
          </a:p>
        </p:txBody>
      </p:sp>
      <p:sp>
        <p:nvSpPr>
          <p:cNvPr id="269" name="Google Shape;269;p41"/>
          <p:cNvSpPr txBox="1">
            <a:spLocks noGrp="1"/>
          </p:cNvSpPr>
          <p:nvPr>
            <p:ph idx="1"/>
          </p:nvPr>
        </p:nvSpPr>
        <p:spPr>
          <a:xfrm>
            <a:off x="311700" y="1152475"/>
            <a:ext cx="8520600" cy="3416400"/>
          </a:xfr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Q-learning selects chase or avoid, A* calculates safest or shortest path</a:t>
            </a:r>
            <a:endParaRPr lang="en-US"/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for:</a:t>
            </a:r>
            <a:endParaRPr lang="en-US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Navigating toward nearby pellets</a:t>
            </a:r>
            <a:endParaRPr lang="en-US"/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Escaping ghosts</a:t>
            </a:r>
            <a:endParaRPr lang="en-US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rtl="0">
              <a:spcBef>
                <a:spcPts val="1200"/>
              </a:spcBef>
              <a:spcAft>
                <a:spcPts val="1200"/>
              </a:spcAft>
              <a:buNone/>
            </a:pP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dirty="0"/>
              <a:t>Experiment 1 — RL-Only vs RL + A*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500"/>
              <a:t>Goal: Compare baseline RL agent vs hybrid RL + A*.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US" sz="1500"/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500"/>
              <a:t>Results: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lang="en-US" sz="1500"/>
              <a:t>RL-only avg reward: 730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lang="en-US" sz="1500"/>
              <a:t>RL + A* avg reward: 1250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lang="en-US" sz="1500"/>
              <a:t>RL + A* survived ~3x longer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lang="en-US" sz="1500"/>
              <a:t>RL + A* collected nearly double the pellets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US" sz="1500"/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500"/>
              <a:t>Conclusion: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500"/>
              <a:t>Using A* dramatically improves planning, survival, and reward stability.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t>Experiment 2 — Exploration Schedule (ε-Greedy)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700"/>
              <a:t>Goal: Compare constant vs decaying epsilon exploration.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US" sz="1700"/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700"/>
              <a:t>Results: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lang="en-US" sz="1700"/>
              <a:t>Constant ε = 0.1 → stable but slow learning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lang="en-US" sz="1700"/>
              <a:t>Decaying ε from 1.0 → 0.05 → faster convergence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lang="en-US" sz="1700"/>
              <a:t>Higher long-term rewards and more consistent behavior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US" sz="1700"/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700"/>
              <a:t>Conclusion: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700"/>
              <a:t>Decaying ε produced the strongest policy and best overall learning curve.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t>Experiment 3 — Ghost Difficulty Modes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700"/>
              <a:t>Goal: Evaluate performance under different ghost behaviors.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US" sz="1700"/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700"/>
              <a:t>Ghost Modes Tested: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lang="en-US" sz="1700"/>
              <a:t>Random → easiest, highest reward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lang="en-US" sz="1700"/>
              <a:t>Chase → predictable but more dangerous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lang="en-US" sz="1700"/>
              <a:t>Mixed → hardest due to unpredictability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endParaRPr lang="en-US" sz="1700"/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700"/>
              <a:t>Conclusion: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700"/>
              <a:t>Ghost difficulty strongly impacts agent performance and learning efficiency.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Takeaways</a:t>
            </a:r>
          </a:p>
        </p:txBody>
      </p:sp>
      <p:graphicFrame>
        <p:nvGraphicFramePr>
          <p:cNvPr id="296" name="Google Shape;294;p45">
            <a:extLst>
              <a:ext uri="{FF2B5EF4-FFF2-40B4-BE49-F238E27FC236}">
                <a16:creationId xmlns:a16="http://schemas.microsoft.com/office/drawing/2014/main" id="{97602F2B-C55D-5AC6-54D7-59EAC5D524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3584780"/>
              </p:ext>
            </p:extLst>
          </p:nvPr>
        </p:nvGraphicFramePr>
        <p:xfrm>
          <a:off x="311700" y="1152475"/>
          <a:ext cx="85206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 txBox="1">
            <a:spLocks noGrp="1"/>
          </p:cNvSpPr>
          <p:nvPr>
            <p:ph type="title"/>
          </p:nvPr>
        </p:nvSpPr>
        <p:spPr>
          <a:xfrm>
            <a:off x="1455600" y="2098650"/>
            <a:ext cx="62328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Demo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7"/>
          <p:cNvSpPr txBox="1">
            <a:spLocks noGrp="1"/>
          </p:cNvSpPr>
          <p:nvPr>
            <p:ph type="title"/>
          </p:nvPr>
        </p:nvSpPr>
        <p:spPr>
          <a:xfrm>
            <a:off x="1295650" y="3360700"/>
            <a:ext cx="62328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pic>
        <p:nvPicPr>
          <p:cNvPr id="305" name="Google Shape;30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2313" y="904875"/>
            <a:ext cx="1899475" cy="189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</Words>
  <Application>Microsoft Office PowerPoint</Application>
  <PresentationFormat>On-screen Show (16:9)</PresentationFormat>
  <Paragraphs>70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Simple Dark</vt:lpstr>
      <vt:lpstr>Pac Man AI</vt:lpstr>
      <vt:lpstr>Project Overview  </vt:lpstr>
      <vt:lpstr>Tools &amp; Implementation</vt:lpstr>
      <vt:lpstr>Process  </vt:lpstr>
      <vt:lpstr>Q-Learning</vt:lpstr>
      <vt:lpstr>A* </vt:lpstr>
      <vt:lpstr>Experiment 1 — RL-Only vs RL + A*</vt:lpstr>
      <vt:lpstr>Experiment 2 — Exploration Schedule (ε-Greedy)</vt:lpstr>
      <vt:lpstr>Experiment 3 — Ghost Difficulty Modes</vt:lpstr>
      <vt:lpstr>Takeaways</vt:lpstr>
      <vt:lpstr>Game Demo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Avery Munn</dc:creator>
  <cp:lastModifiedBy>Avery Munn</cp:lastModifiedBy>
  <cp:revision>1</cp:revision>
  <dcterms:modified xsi:type="dcterms:W3CDTF">2025-12-01T03:31:56Z</dcterms:modified>
</cp:coreProperties>
</file>